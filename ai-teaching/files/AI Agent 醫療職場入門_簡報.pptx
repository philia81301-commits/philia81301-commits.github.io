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hilia81301-commits.github.io/weight-clinic-reports/" TargetMode="External"/><Relationship Id="rId3" Type="http://schemas.openxmlformats.org/officeDocument/2006/relationships/hyperlink" Target="https://philia81301-commits.github.io/weight-clinic-reports/game.html" TargetMode="External"/><Relationship Id="rId4" Type="http://schemas.openxmlformats.org/officeDocument/2006/relationships/hyperlink" Target="https://philia81301-commits.github.io/osteoporosis-clinic/" TargetMode="External"/><Relationship Id="rId5" Type="http://schemas.openxmlformats.org/officeDocument/2006/relationships/hyperlink" Target="https://philia81301-commits.github.io/sarcopenia-clinic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Agent 醫療職場入門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BBCCDD"/>
                </a:solidFill>
                <a:latin typeface="Microsoft JhengHei"/>
                <a:ea typeface="Microsoft JhengHei"/>
                <a:cs typeface="Microsoft JhengHei"/>
              </a:rPr>
              <a:t>醫師 / 護理 / 個管 / 行政都適用 — 學怎麼跟它一起工作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0">
                <a:solidFill>
                  <a:srgbClr val="DDEEEE"/>
                </a:solidFill>
                <a:latin typeface="Microsoft JhengHei"/>
                <a:ea typeface="Microsoft JhengHei"/>
                <a:cs typeface="Microsoft JhengHei"/>
              </a:rPr>
              <a:t>ChatGPT 像是一個很懂的顧問，會教你怎麼寫</a:t>
            </a:r>
          </a:p>
          <a:p>
            <a:pPr>
              <a:lnSpc>
                <a:spcPct val="130000"/>
              </a:lnSpc>
            </a:pPr>
            <a:r>
              <a:rPr sz="2400" b="0">
                <a:solidFill>
                  <a:srgbClr val="DDEEEE"/>
                </a:solidFill>
                <a:latin typeface="Microsoft JhengHei"/>
                <a:ea typeface="Microsoft JhengHei"/>
                <a:cs typeface="Microsoft JhengHei"/>
              </a:rPr>
              <a:t>但跑腿的事你還是要做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Agent 是直接把報告寫好放你桌上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你負責說清楚要什麼，還有最後簽名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AACCDD"/>
                </a:solidFill>
                <a:latin typeface="Microsoft JhengHei"/>
                <a:ea typeface="Microsoft JhengHei"/>
                <a:cs typeface="Microsoft JhengHei"/>
              </a:rPr>
              <a:t>家庭醫學部 潘湘如 醫師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4476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AACCDD"/>
                </a:solidFill>
                <a:latin typeface="Microsoft JhengHei"/>
                <a:ea typeface="Microsoft JhengHei"/>
                <a:cs typeface="Microsoft JhengHei"/>
              </a:rPr>
              <a:t>2026-07-29（巡迴版）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三年前，我在肥胖醫學會講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2023 年，肥胖醫學會邀我講</a:t>
            </a:r>
          </a:p>
          <a:p>
            <a:pPr>
              <a:lnSpc>
                <a:spcPct val="14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AI in obesity management</a:t>
            </a:r>
          </a:p>
          <a:p>
            <a:pPr>
              <a:lnSpc>
                <a:spcPct val="140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我講得很心虛。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03320"/>
            <a:ext cx="10908792" cy="184279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920947"/>
            <a:ext cx="10396728" cy="133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純理論、純文獻整理，不著邊際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因為那時候，我自己一件事都沒真的做過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今天這一場，是三年後的補課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我真正想知道的事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門診看久了，有些事你會很想知道答案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我的病人族群長什麼樣？</a:t>
            </a:r>
          </a:p>
          <a:p>
            <a:pPr>
              <a:lnSpc>
                <a:spcPct val="14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減重藥物的使用分佈如何？</a:t>
            </a:r>
          </a:p>
          <a:p>
            <a:pPr>
              <a:lnSpc>
                <a:spcPct val="14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成效到底好不好？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965960"/>
            <a:ext cx="4690872" cy="320040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240280"/>
            <a:ext cx="4206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這些都要分析</a:t>
            </a:r>
          </a:p>
          <a:p>
            <a:pPr>
              <a:lnSpc>
                <a:spcPct val="13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但分析是每個月都要做的事</a:t>
            </a:r>
          </a:p>
          <a:p>
            <a:pPr>
              <a:lnSpc>
                <a:spcPct val="135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我不想每個月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都做一模一樣的工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這就是我的第一個需求 —— 不是想學 AI，是不想做白工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需求是一路長出來的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08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2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2025 年 6 月　減重 QR code 連 Google 表單</a:t>
            </a:r>
          </a:p>
          <a:p>
            <a:pPr>
              <a:lnSpc>
                <a:spcPct val="132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　↓　想把分析結果給病人看</a:t>
            </a:r>
          </a:p>
          <a:p>
            <a:pPr>
              <a:lnSpc>
                <a:spcPct val="132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候診衛教小遊戲</a:t>
            </a:r>
          </a:p>
          <a:p>
            <a:pPr>
              <a:lnSpc>
                <a:spcPct val="132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　↓　QR code 太花時間</a:t>
            </a:r>
          </a:p>
          <a:p>
            <a:pPr>
              <a:lnSpc>
                <a:spcPct val="132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下拉式選單，門診病歷快速生成</a:t>
            </a:r>
          </a:p>
          <a:p>
            <a:pPr>
              <a:lnSpc>
                <a:spcPct val="132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　↓　社區端也做了不少數位工具</a:t>
            </a:r>
          </a:p>
          <a:p>
            <a:pPr>
              <a:lnSpc>
                <a:spcPct val="132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學會演講素材要整理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257800"/>
            <a:ext cx="10908792" cy="1082375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475427"/>
            <a:ext cx="10396728" cy="57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沒有一步是事先規劃的 —— 每一步都是被下一個需求推出來的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一張投訴單，讓我做了一個網頁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一件自費針劑的爭議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↓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要跟家屬溝通，還要到衛生局開爭議會議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↓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過程中我才發現，真正的問題不在那支藥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343400"/>
            <a:ext cx="10908792" cy="170021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561027"/>
            <a:ext cx="10396728" cy="1188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病人從頭到尾沒有真正弄懂：為什麼要打、要打多久、停了會怎樣</a:t>
            </a:r>
          </a:p>
          <a:p>
            <a:pPr>
              <a:lnSpc>
                <a:spcPct val="135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於是我做了骨鬆衛教網頁 —— 不是為了學 AI，是被現實逼出來的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我是被刺激到的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聽到別人用 Agent 省下大量時間</a:t>
            </a:r>
          </a:p>
          <a:p>
            <a:pPr>
              <a:lnSpc>
                <a:spcPct val="14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而且對方是電腦小白 —— 那我當然也可以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80360"/>
            <a:ext cx="10908792" cy="14173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本來我還指望我先生，他至少有程式背景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但他工作上沒這個需求，也不清楚我究竟想達成什麼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0879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求人不如求己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去看三師爸、雷蒙老師的免費 YouTube 課程，自己學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打開就能看 — 這些都在線上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減重門診月度分析報告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  <a:hlinkClick r:id="rId2"/>
              </a:rPr>
              <a:t>philia81301-commits.github.io/weight-clinic-reports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0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減重大冒險 — 病人衛教互動遊戲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9631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philia81301-commits.github.io/weight-clinic-reports/game.html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骨質疏鬆門診工具 — 風險評估 / 選藥 / 衛教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4670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philia81301-commits.github.io/osteoporosis-clinic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2160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肌少症篩檢工具 — SARC-CalF 初篩 → AWGS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9709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philia81301-commits.github.io/sarcopenia-clinic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減重門診輸入工具 — 看診當下填，病歷自動生成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474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表單改版中，換掉姓名欄位後才公開連結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公開的是「工具」與匿名彙總統計 —— 頁面本身不存任何病人資料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掃這個就能打開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現在就可以拿手機掃 —— 這些都是給你自己試的</a:t>
            </a:r>
          </a:p>
        </p:txBody>
      </p:sp>
      <p:pic>
        <p:nvPicPr>
          <p:cNvPr id="6" name="Picture 5" descr="qr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19" y="1965960"/>
            <a:ext cx="2103120" cy="2103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206240"/>
            <a:ext cx="27271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減重月度分析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27271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匿名彙總統計</a:t>
            </a:r>
          </a:p>
        </p:txBody>
      </p:sp>
      <p:pic>
        <p:nvPicPr>
          <p:cNvPr id="9" name="Picture 8" descr="qr_g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316" y="1965960"/>
            <a:ext cx="2103120" cy="21031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7278" y="4206240"/>
            <a:ext cx="27271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減重大冒險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7278" y="4663440"/>
            <a:ext cx="27271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病人衛教遊戲</a:t>
            </a:r>
          </a:p>
        </p:txBody>
      </p:sp>
      <p:pic>
        <p:nvPicPr>
          <p:cNvPr id="12" name="Picture 11" descr="qr_ost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515" y="1965960"/>
            <a:ext cx="2103120" cy="2103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4476" y="4206240"/>
            <a:ext cx="27271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骨質疏鬆工具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4663440"/>
            <a:ext cx="27271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完全不收資料</a:t>
            </a:r>
          </a:p>
        </p:txBody>
      </p:sp>
      <p:pic>
        <p:nvPicPr>
          <p:cNvPr id="15" name="Picture 14" descr="qr_sarcopeni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713" y="1965960"/>
            <a:ext cx="2103120" cy="21031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21674" y="4206240"/>
            <a:ext cx="27271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肌少症篩檢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1674" y="4663440"/>
            <a:ext cx="27271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不收姓名病歷號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10908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減重門診輸入工具沒有放在這裡 —— 那張表單還在收姓名，我正在換掉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換好之後才會公開連結與掃碼；今天想看它長什麼樣，後面有實際畫面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一句話先看懂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AI Agent = 一個很能幹、但今天第一天上班的新人</a:t>
            </a:r>
          </a:p>
          <a:p>
            <a:pPr>
              <a:lnSpc>
                <a:spcPct val="14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你是那個要簽名負責的人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它不是聊天機器人（只會一問一答）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而是一個能自己規劃、自己跑腿、自己交作業的「自動化助理」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你不需要會寫程式，你需要的是「講清楚你要什麼」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而不管你是醫師、護理師、個管師還是行政承辦 —— 這件事你早就會了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你已經在用 Agent 了（上）：人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你不是從零學起，只是把原本用人的流程換成用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65960"/>
          <a:ext cx="1090879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291840"/>
                <a:gridCol w="249631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臨床場景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行政場景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概念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主治、護理長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承辦、組長、科長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簽名負責的人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新人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住院醫師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新進助理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Agent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專責的人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NP、個管師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 / 核銷窗口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Subagent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你已經在用 Agent 了（下）：機制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109087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017520"/>
                <a:gridCol w="3291840"/>
                <a:gridCol w="249631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機制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臨床場景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行政場景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 概念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外部單位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外送檢驗所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廠商、健保署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API / Provider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系統互通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HIS 連 NIS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公文連人事系統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MCP 插座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留底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病歷系統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公文檔號、共用槽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Git + 檔案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交接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晨會交班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業務交接單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handoff.md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這些你天天在做 —— 換成 AI，帶法是一樣的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故事：一個計畫承辦人的日常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不管你職稱是什麼 —— 只要資料歸你管、報告要你交，這就是你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Excel 簽到表 + 血糖數據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活動照片（一場好幾張）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每季 KPI 達成率檢討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年底期末成果報告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明年度工作計畫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2057400"/>
            <a:ext cx="4873752" cy="31089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22860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每年都做類似的事</a:t>
            </a:r>
          </a:p>
          <a:p>
            <a:pPr>
              <a:lnSpc>
                <a:spcPct val="140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同樣的流程、同樣的痛點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但每次還是從頭翻資料夾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手動搬數字、貼照片、調格式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ChatGPT vs AI Agent：差別在哪？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394960" cy="640080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ChatGPT（聊天）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298448"/>
            <a:ext cx="5303520" cy="640080"/>
          </a:xfrm>
          <a:prstGeom prst="rect">
            <a:avLst/>
          </a:prstGeom>
          <a:solidFill>
            <a:srgbClr val="1A5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898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AI Agent（代理）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你要手動找檔案</a:t>
            </a:r>
          </a:p>
          <a:p>
            <a:pPr>
              <a:lnSpc>
                <a:spcPct val="15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你要手動貼資料進對話框</a:t>
            </a:r>
          </a:p>
          <a:p>
            <a:pPr>
              <a:lnSpc>
                <a:spcPct val="15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它只能給你文字建議</a:t>
            </a:r>
          </a:p>
          <a:p>
            <a:pPr>
              <a:lnSpc>
                <a:spcPct val="15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你還是要自己開 Word / PPT</a:t>
            </a:r>
          </a:p>
          <a:p>
            <a:pPr>
              <a:lnSpc>
                <a:spcPct val="15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去年的資料？你自己翻</a:t>
            </a:r>
          </a:p>
          <a:p>
            <a:pPr>
              <a:lnSpc>
                <a:spcPct val="15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明年再做一次？全部重來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2148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你只下一個指令</a:t>
            </a:r>
          </a:p>
          <a:p>
            <a:pPr>
              <a:lnSpc>
                <a:spcPct val="15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自己去資料夾找檔案</a:t>
            </a:r>
          </a:p>
          <a:p>
            <a:pPr>
              <a:lnSpc>
                <a:spcPct val="15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自己寫程式算數據</a:t>
            </a:r>
          </a:p>
          <a:p>
            <a:pPr>
              <a:lnSpc>
                <a:spcPct val="15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直接產出 Word + PPT</a:t>
            </a:r>
          </a:p>
          <a:p>
            <a:pPr>
              <a:lnSpc>
                <a:spcPct val="15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一句話就去翻舊資料夾</a:t>
            </a:r>
          </a:p>
          <a:p>
            <a:pPr>
              <a:lnSpc>
                <a:spcPct val="15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同樣指令明年照樣用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150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</a:rPr>
              <a:t>ChatGPT 教你怎麼寫；AI Agent 直接幫你做好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場景①：季 KPI 檢討 — 10 分鐘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46258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7787"/>
            <a:ext cx="10396728" cy="950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你只說一句話：「讀 Q2_KPI.xlsx，算各站達成率，對比 Q1 和去年同期，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標紅燈、給改善建議，產出報告」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Agent 自己做完：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① 找到檔案、讀取 Excel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② 自己寫程式算統計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③ 同期比較、判斷紅燈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④ 給改善建議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⑤ 產出檢討報告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788920"/>
            <a:ext cx="4873752" cy="3268568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3006547"/>
            <a:ext cx="4361688" cy="27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你只需要：</a:t>
            </a:r>
          </a:p>
          <a:p>
            <a:pPr>
              <a:lnSpc>
                <a:spcPct val="13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覆核 → 簽名</a:t>
            </a:r>
          </a:p>
          <a:p>
            <a:pPr>
              <a:lnSpc>
                <a:spcPct val="13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就像看住院醫師寫的病摘、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或看承辦擬的稿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場景②：年度成果報告 — 一整天 → 30 分鐘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0972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「資料夾裡有今年所有 Excel 和照片：按月份整理、統計全年、對比去年、挑 3 個亮點、產出 Word + PPT」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Agent 一次做完：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掃描整個資料夾 → 按月份列出活動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讀每場 Excel → 算出統計數字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自動挑代表性照片嵌入報告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讀去年報告做對比 → 標出進步 / 退步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產出 Word（完整報告）+ PPT（簡報）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場景③④：查舊資料 + 明年計畫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5394960" cy="3506198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16075"/>
            <a:ext cx="4882896" cy="299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③ 查舊資料（5 秒）</a:t>
            </a:r>
          </a:p>
          <a:p>
            <a:pPr>
              <a:lnSpc>
                <a:spcPct val="13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你：「去年仁愛里那場，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血糖異常率多少？」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Agent：「2025/3/15 篩檢 112 人，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異常率 13.4%」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5352" y="1298448"/>
            <a:ext cx="5303520" cy="3506198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1384" y="1516075"/>
            <a:ext cx="4791456" cy="299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④ 明年計畫草案</a:t>
            </a:r>
          </a:p>
          <a:p>
            <a:pPr>
              <a:lnSpc>
                <a:spcPct val="13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你：「讀今年四份季檢討，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歸納重複出現的問題，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產出明年改善計畫草案」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不用自己重讀四份報告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重點：你只說「需求」，找資料、計算、撰寫都是它的事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場景⑤：會議紀錄 → 決議追蹤表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開會兩小時、紀錄寫三天 —— 行政人員最有感的一個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08792" cy="146258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37867"/>
            <a:ext cx="10396728" cy="950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「這是昨天會議的逐字稿：整理成正式紀錄（比照範本），把決議事項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 抽成追蹤表（決議 / 主辦 / 期限 / 狀態），並接上次未結案的舊案」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它會做的：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分辨「討論到」與「決議」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套你既有的範本格式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抽出決議建成追蹤表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接上次的未結案舊案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703320"/>
            <a:ext cx="5056632" cy="2793309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920947"/>
            <a:ext cx="4544568" cy="228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這一頁的紅線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錄音檔＝與會者個資，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人事、議價會議不要進雲端。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決議每一條你自己對過。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場景⑥：骨鬆衛教素材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產出的不是報告，是給病人看的東西 —— 規則不太一樣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08792" cy="146258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37867"/>
            <a:ext cx="10396728" cy="950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「做一份骨鬆衛教單張，對象是剛驗出 T-score -2.8 的停經後女性，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 國小程度中文、A4 一頁，含鈣與維生素 D、防跌、何時回診」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它會做的：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依指定閱讀程度改寫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排版產出 Word / PDF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一次做多個版本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做成網頁讓病人掃 QR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3703320"/>
            <a:ext cx="5056632" cy="2793309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48272" y="3920947"/>
            <a:ext cx="4544568" cy="2281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額外的紅線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衛教會寫到藥物和劑量 ——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每個數字都要對回指引。</a:t>
            </a:r>
          </a:p>
          <a:p>
            <a:pPr>
              <a:lnSpc>
                <a:spcPct val="135000"/>
              </a:lnSpc>
            </a:pPr>
            <a:r>
              <a:rPr sz="20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最終版一定你審過才給病人。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場景⑦：表單工具 — 少寫病歷、少 key 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前面都是「產出文件」。這次是產出一個「每天幫你省時間的工具」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10908792" cy="10972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「做一份減重門診初診評估表，做成 Google 表單，讓病人候診時先填」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90879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病人候診時填表單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↓  資料一開始就是結構化的（不是手寫在紙上）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看診時：Agent 整理成病歷格式，你貼上、修一下、簽名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↓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月底做分析：資料早就在 Sheet 裡，不用再 key 一次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場景⑦：這個工具實際長這樣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① 看診時填一填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3258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E8E4A"/>
                </a:solidFill>
                <a:latin typeface="Microsoft JhengHei"/>
                <a:ea typeface="Microsoft JhengHei"/>
                <a:cs typeface="Microsoft JhengHei"/>
              </a:rPr>
              <a:t>② 病歷貼稿自動生成</a:t>
            </a:r>
          </a:p>
        </p:txBody>
      </p:sp>
      <p:pic>
        <p:nvPicPr>
          <p:cNvPr id="7" name="Picture 6" descr="tool_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4097038" cy="3291840"/>
          </a:xfrm>
          <a:prstGeom prst="rect">
            <a:avLst/>
          </a:prstGeom>
        </p:spPr>
      </p:pic>
      <p:pic>
        <p:nvPicPr>
          <p:cNvPr id="8" name="Picture 7" descr="tool_n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828800"/>
            <a:ext cx="5984464" cy="3767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33832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Ctrl+V 貼進病歷；同一筆一併進 Google 表單，月底不用再 key 一次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（右圖為示範用假資料，非真實個案）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場景⑦的重點與紅線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69164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在資料「產生的那一刻」就讓它是結構化的，</a:t>
            </a:r>
          </a:p>
          <a:p>
            <a:pPr>
              <a:lnSpc>
                <a:spcPct val="12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後面每一步都省事。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（行政版：報名表、簽到、滿意度問卷同理）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但表單收的是個人資料 —— 套用資料分級原則：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931920"/>
          <a:ext cx="1090879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/>
                <a:gridCol w="560527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別做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改成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表單收姓名、身分證號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收病歷號後四碼或自編代號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沒問過就把病人資料放 Google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先確認院方對境外雲端的規定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這些不是假設 — 已經在跑的任務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0879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33679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已經在跑的任務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產出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減重門診月度成效分析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統計 + HTML 報告 + 簡報 + 計畫書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醫院訪視跨年度分析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各院 113–115 比較分析 + 訪視回饋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醫療網期末簡報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正式版簡報 + 補強建議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骨鬆衛教網站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骨折風險 / 藥物選擇 / 病人衛教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信箱自動歸檔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收件匣依寄件人分類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864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連你現在看的這份講義也是 —— Markdown、Word、簡報都是它產的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越做越快 — 四個專案的實測時間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908791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050791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專案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從開工到上線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減重月度分析 ＋ 衛教遊戲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18 天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② 減重門診快速評估工具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當天上線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③ 骨質疏鬆門診工具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跨一個晚上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④ 肌少症篩檢工具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8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13 分鐘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5720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想法醞釀了一年 —— 真正動手，四個工具不到兩個月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5780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註：以 GitHub 紀錄計算，不含構思與資料整理的時間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　第一個專案含兩項產品與我的學習期，四案複雜度也不同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66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核心觀念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Model / Agent / Token / Context — 每個名詞都給臨床版和行政版比喻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蓋房子的三個角色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你要蓋一間房子，不會自己畫圖、自己砌磚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0879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0839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角色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做什麼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你（業主）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說出你要什麼，最後驗收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建築師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把模糊的需求變成設計圖，有問題會回頭問你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承包商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照圖施工、叫料、排工序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52628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AI Agent 一個人做了建築師 ＋ 承包商的事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而且好的建築師會反問你：陽台要外推？那會動到結構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ChatGPT 比較像顧問 —— 會告訴你該怎麼做，但不畫圖、也不施工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核心觀念（上）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Model（模型）＝ 那個人的腦袋與知識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臨床：主治的知識　｜　行政：很會寫的人的文筆與判斷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同一顆大腦裝在不同 Agent 身上，效率差很多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Agent（代理）＝ 那個人的手和腳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臨床：住院醫師　｜　行政：會用系統的助理（跑腿、翻檔案、算數據、寫報告）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Token（代幣）　臨床：健保點數　｜　行政：影印張數</a:t>
            </a:r>
          </a:p>
          <a:p>
            <a:pPr>
              <a:lnSpc>
                <a:spcPct val="125000"/>
              </a:lnSpc>
            </a:pPr>
            <a:r>
              <a:rPr sz="20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中文特別吃 token：1 個中文字 ≈ 1～2 個 token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（3,000 字的中文報告 ≈ 4,000～6,000 token）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核心觀念（中）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Context Window ＝ AI 一次能記住的資訊量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臨床：病歷可調閱範圍　｜　行政：桌上攤得開的卷宗量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對話越長，越容易忘記前面講過什麼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System Prompt ＝ 一直都適用的規矩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臨床：科部 SOP　｜　行政：科內作業要點（寫在 AGENTS.md 裡）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API ＝ 兩個軟體之間說好的溝通格式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臨床：檢查申請單　｜　行政：請購單。API Key 就是你的員工證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核心觀念（下）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MCP ＝ USB-C 接頭：一種方式連所有服務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臨床：HIS 連 NIS　｜　行政：一組帳號通公文、人事、會計系統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Provider ＝ 你跟哪家公司租 AI 大腦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臨床：檢驗所品牌　｜　行政：委外廠商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各家型號更新很快，用之前先去官網看當下的型號和價目</a:t>
            </a:r>
          </a:p>
          <a:p>
            <a:pPr>
              <a:lnSpc>
                <a:spcPct val="130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RAG ＝ 先查資料再回答，不憑印象講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臨床：翻病歷＋查 UpToDate　｜　行政：先調卷宗和函釋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 ≠ 工具：一顆腦，很多外殼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名字這麼亂，是因為大家把兩件事混在一起講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29260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模型 ＝ 那顆腦袋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GPT、Gemini、Claude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決定它聰不聰明、懂多少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965960"/>
            <a:ext cx="5303520" cy="292608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24028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工具 ＝ 它坐在哪個診間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ChatGPT、Codex、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OpenCode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決定它能不能真的動手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087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同一位主治，在門診、在病房、在開刀房，能做的事完全不同</a:t>
            </a:r>
          </a:p>
          <a:p>
            <a:pPr>
              <a:lnSpc>
                <a:spcPct val="128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OpenCode 就是一間空診間 —— 請哪一家的腦進來坐，你自己決定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這些名字，其實是這幾家公司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90879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41655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產品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這是什麼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OpenAI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 ／ Codex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聊天 ／ 寫程式的 Agent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Google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Gemini ／ NotebookLM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聊天 ／ 只讀你給的資料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Anthropic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 ／ Claude Code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聊天 ／ 會動手做事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Perplexity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Perplexity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查資料，答案會附出處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開源社群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OpenCode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空殼，自己接上面任一家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34924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同一顆腦可以裝進不同工具 —— 名字才會多到讓人放棄</a:t>
            </a:r>
          </a:p>
          <a:p>
            <a:pPr>
              <a:lnSpc>
                <a:spcPct val="128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8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各家型號更新很快，用之前先去官網看當下的型號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你想做的事，該找哪一個？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80160"/>
          <a:ext cx="109087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206240"/>
                <a:gridCol w="377647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你想做的事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找哪一個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為什麼是它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問問題、寫東西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ChatGPT、Gemini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挑你順手的就好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查資料要出處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Perplexity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答案會附上來源連結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讀一疊自己的檔案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NotebookLM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只根據你給的資料回答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要它真的動手做事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Claude Code、OpenCode、Codex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會讀檔、算數據、產檔案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只有最後一格才是「Agent」—— 前面三個都只會給你文字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同一件事其實好幾個都能做，先挑一個用熟，不必全裝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要花多少錢？四個級距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087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61695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要花多少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大概能做什麼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免費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聊天、查資料，但有次數限制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月費・入門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不太被限流，腦袋也好一點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月費・進階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能讓它長時間替你動手做事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按用量計費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用多少算多少，寫程式串接用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4526280"/>
            <a:ext cx="10908792" cy="1612201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743907"/>
            <a:ext cx="10396728" cy="11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免費層通常會拿你的資料去訓練 —— 醫院資料不要用</a:t>
            </a:r>
          </a:p>
          <a:p>
            <a:pPr>
              <a:lnSpc>
                <a:spcPct val="125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中國的模型（DeepSeek 等）便宜好用，但院內能不能用，請問資訊室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我自己是怎麼配的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不必全部都用 —— 我也是一個一個加進來的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5394960" cy="30175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8463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每天在用</a:t>
            </a:r>
          </a:p>
          <a:p>
            <a:pPr>
              <a:lnSpc>
                <a:spcPct val="12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Claude Code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四個工具、月報都是它做的</a:t>
            </a:r>
          </a:p>
          <a:p>
            <a:pPr>
              <a:lnSpc>
                <a:spcPct val="12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Perplexity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查資料，答案會附出處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1965960"/>
            <a:ext cx="5303520" cy="30175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212848"/>
            <a:ext cx="4754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偶爾用、還在練</a:t>
            </a:r>
          </a:p>
          <a:p>
            <a:pPr>
              <a:lnSpc>
                <a:spcPct val="12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NotebookLM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只讀我給它的那疊資料</a:t>
            </a:r>
          </a:p>
          <a:p>
            <a:pPr>
              <a:lnSpc>
                <a:spcPct val="12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0000"/>
              </a:lnSpc>
            </a:pPr>
            <a:r>
              <a:rPr sz="2400" b="1">
                <a:solidFill>
                  <a:srgbClr val="0D3B4F"/>
                </a:solidFill>
                <a:latin typeface="Microsoft JhengHei"/>
                <a:ea typeface="Microsoft JhengHei"/>
                <a:cs typeface="Microsoft JhengHei"/>
              </a:rPr>
              <a:t>OpenCode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　免費開源，當第二個助手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隨手問一句，就用 ChatGPT 或 Gemini，順手最重要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三個常見誤會，跟怎麼選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08792" cy="133173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51152"/>
            <a:ext cx="10506456" cy="929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誤會一：ChatGPT 就等於 AI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它只是其中一家公司的其中一個產品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21620"/>
            <a:ext cx="10908792" cy="133173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892612"/>
            <a:ext cx="10506456" cy="929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誤會二：換一家就要重新學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用法幾乎一樣，差別在它能不能動手做事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163080"/>
            <a:ext cx="10908792" cy="1331732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334072"/>
            <a:ext cx="10506456" cy="929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誤會三：免費的就夠用了</a:t>
            </a:r>
          </a:p>
          <a:p>
            <a:pPr>
              <a:lnSpc>
                <a:spcPct val="12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免費層有次數限制，你的資料怎麼被用也不一樣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41116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怎麼選：先問自己 —— 我要它給答案，還是要它動手做事？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不只是照做 — 它會反問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同樣都叫 AI，能力差了兩個層級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1090879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017520"/>
                <a:gridCol w="423367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層級 · 像誰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你做什麼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它做什麼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 · 查資料的網站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問一句，拿一段答案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答完就結束，怎麼串是你的事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助理 · 第一天上班的新人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交辦，然後覆核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照著做，做完交回來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專業者 · 你家的建築師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講清楚你要什麼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查證、擋下你、說方向有問題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0916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上週它擋下我三件事：</a:t>
            </a:r>
          </a:p>
          <a:p>
            <a:pPr>
              <a:lnSpc>
                <a:spcPct val="125000"/>
              </a:lnSpc>
            </a:pPr>
            <a:r>
              <a:rPr sz="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會當場翻車的簡報論點　／　和自己紅線矛盾的工具連結　／　已經存在卻要重做的頁面</a:t>
            </a:r>
          </a:p>
          <a:p>
            <a:pPr>
              <a:lnSpc>
                <a:spcPct val="125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不是更聽話，是更會頂嘴 —— 但頂得有根據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一句話看懂整條鏈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999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你打開 PowerShell（你桌上那台電腦）</a:t>
            </a:r>
          </a:p>
          <a:p>
            <a:pPr>
              <a:lnSpc>
                <a:spcPct val="114999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↓</a:t>
            </a:r>
          </a:p>
          <a:p>
            <a:pPr>
              <a:lnSpc>
                <a:spcPct val="114999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啟動 Claude Code（你的助理）</a:t>
            </a:r>
          </a:p>
          <a:p>
            <a:pPr>
              <a:lnSpc>
                <a:spcPct val="114999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↓  它透過 API Key（員工證）</a:t>
            </a:r>
          </a:p>
          <a:p>
            <a:pPr>
              <a:lnSpc>
                <a:spcPct val="114999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呼叫雲端模型（委外的檢驗所 / 廠商）去算你的資料</a:t>
            </a:r>
          </a:p>
          <a:p>
            <a:pPr>
              <a:lnSpc>
                <a:spcPct val="114999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↓  並透過 MCP（院內系統的統一插座）</a:t>
            </a:r>
          </a:p>
          <a:p>
            <a:pPr>
              <a:lnSpc>
                <a:spcPct val="114999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去 Google Drive（雲端檔案櫃）讀取檔案</a:t>
            </a:r>
          </a:p>
          <a:p>
            <a:pPr>
              <a:lnSpc>
                <a:spcPct val="114999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↓</a:t>
            </a:r>
          </a:p>
          <a:p>
            <a:pPr>
              <a:lnSpc>
                <a:spcPct val="114999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把報告放你桌上，你覆核簽名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Hallucination（幻覺）— 最該提防的一點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84279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16075"/>
            <a:ext cx="10396728" cy="1330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AI 會「自信滿滿地講出錯誤資訊」，</a:t>
            </a:r>
          </a:p>
          <a:p>
            <a:pPr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而且語氣跟講對的時候一模一樣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0879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臨床：病人說「我上次抽血都正常」，你翻病歷 HbA1c 9.2%。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行政：新人說「這個上次照第三點辦」，翻卷宗根本沒有第三點。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它不是故意騙你 —— 它是「記錯了但不知道自己記錯」。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數字、劑量、法條編號、引用來源，一律回頭核對原始檔案。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永遠覆核 AI 的輸出 —— 就像覆核住院醫師的病摘，或承辦擬的稿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66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技巧篇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省上下文、開新 Session、免費分工、Memory、Skill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技巧①：開新 Session = 開新病歷 / 開新卷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Context = 你跟 Agent 到目前為止講過的所有話。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病歷越寫越厚、卷宗越夾越厚，翻到後面越慢。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什麼時候該開新的？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換任務主題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對話超過 30 輪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要分析的檔案換了</a:t>
            </a:r>
          </a:p>
          <a:p>
            <a:pPr>
              <a:lnSpc>
                <a:spcPct val="15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切換到別的專案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514600"/>
            <a:ext cx="5056632" cy="3981457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2732227"/>
            <a:ext cx="4544568" cy="3469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同一件事的兩個講法</a:t>
            </a:r>
          </a:p>
          <a:p>
            <a:pPr>
              <a:lnSpc>
                <a:spcPct val="13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臨床：不會在 A 病人的病歷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　　　裡寫 B 病人的醫囑。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行政：不會把 A 案的公文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　　　夾進 B 案的卷宗。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一案一卷，交接檔寫重點就好。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技巧②：用免費 Agent 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不會叫主治去推心電圖車，也不會叫科長去印會議資料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26517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2800" b="1">
                <a:solidFill>
                  <a:srgbClr val="1E8E4A"/>
                </a:solidFill>
                <a:latin typeface="Microsoft JhengHei"/>
                <a:ea typeface="Microsoft JhengHei"/>
                <a:cs typeface="Microsoft JhengHei"/>
              </a:rPr>
              <a:t>簡單任務 → 免費小模型</a:t>
            </a:r>
          </a:p>
          <a:p>
            <a:pPr>
              <a:lnSpc>
                <a:spcPct val="14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讀檔案、搜資料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整理筆記、寫摘要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103120"/>
            <a:ext cx="5303520" cy="265176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37744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2800" b="1">
                <a:solidFill>
                  <a:srgbClr val="D16B0E"/>
                </a:solidFill>
                <a:latin typeface="Microsoft JhengHei"/>
                <a:ea typeface="Microsoft JhengHei"/>
                <a:cs typeface="Microsoft JhengHei"/>
              </a:rPr>
              <a:t>複雜任務 → 付費大模型</a:t>
            </a:r>
          </a:p>
          <a:p>
            <a:pPr>
              <a:lnSpc>
                <a:spcPct val="145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多檔案程式重構</a:t>
            </a:r>
          </a:p>
          <a:p>
            <a:pPr>
              <a:lnSpc>
                <a:spcPct val="14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分析數據、寫推論與建議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主 Agent 派 Subagent 去找檔案、跑統計，主對話只留結論不塞程式碼 → context 省 50~70%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技巧③：Memory — 講一次，以後都算數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Session 結束對話就清空，但寫進 Memory 的東西下次自動帶出來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90879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017520"/>
                <a:gridCol w="277063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/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是什麼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臨床比喻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行政比喻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Context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這次講過的話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這次門診的對話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這場會議的討論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Memory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跨對話保留的資訊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病歷首頁的註記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卷宗封面的眉批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434840"/>
            <a:ext cx="109087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該寫進 Memory 的：你的身分、反覆踩過的坑、慣用檔案位置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臨床：「性別編碼 0=女 1=男」「n&lt;10 不當亮點」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行政：「金額一律含稅」「單位名稱要用全銜」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你發現自己第三次解釋同一件事 → 那件事就該寫進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技巧④：Skill — 做第二次就寫成 SOP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把一整套重複流程寫成手冊，以後一句話啟動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394960" cy="3017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沒有 Skill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每次都要重講一遍：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抓檔 → 跑統計 → 注意性別編碼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→ 藥名先核對，同一種藥常打法不同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→ 產報告 → 上傳雲端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011680"/>
            <a:ext cx="5303520" cy="3200400"/>
          </a:xfrm>
          <a:prstGeom prst="rect">
            <a:avLst/>
          </a:prstGeom>
          <a:solidFill>
            <a:srgbClr val="E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24028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E8E4A"/>
                </a:solidFill>
                <a:latin typeface="Microsoft JhengHei"/>
                <a:ea typeface="Microsoft JhengHei"/>
                <a:cs typeface="Microsoft JhengHei"/>
              </a:rPr>
              <a:t>寫成 Skill 之後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你：「跑這個月的減重分析」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Agent 照著 SOP 一步一步做完，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包含所有你交代過的注意事項。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投報率最高。行政端最適合：會議紀錄、月報彙整、核銷檢查、評鑑佐證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技巧⑤：動工前先想清楚，放哪裡、給誰看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骨鬆工具一開始放 OneDrive，到醫院電腦打不開才搬家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7400"/>
          <a:ext cx="1090879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87959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先問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決定什麼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這東西最後要放哪裡？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工具、文件、個資資料——三種放法不能混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有沒有病人資料在裡面？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決定能不能公開、能不能對外分享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要給誰用？自己／同事／病人？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決定要不要花力氣做成對外網頁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07492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E8E4A"/>
                </a:solidFill>
                <a:latin typeface="Microsoft JhengHei"/>
                <a:ea typeface="Microsoft JhengHei"/>
                <a:cs typeface="Microsoft JhengHei"/>
              </a:rPr>
              <a:t>這條後來讓 Agent 自己記住，說「初始化專案」就自動先問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呼應上一頁：踩過的坑，變成以後自動會做的檢查點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6600" b="1">
                <a:solidFill>
                  <a:srgbClr val="2C7BA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每個人一定要知道的事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1090879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資料安全、權限邊界、費用預防、人機分工紅線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資料安全底線（臨床和行政都適用）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你的每一句話、每份檔案，都會送到模型提供者的伺服器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908792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840480"/>
                <a:gridCol w="395935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等級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臨床的例子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行政的例子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紅燈｜絕對不行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完整病歷、姓名＋身分證號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人事考績、廠商報價、未公開公文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D16B0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黃燈｜去識別化後可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去識別化的血糖值、統計表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拿掉單位人名的統計、匿名問卷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200" b="1">
                          <a:solidFill>
                            <a:srgbClr val="1E8E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綠燈｜安全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簽到人次、KPI 達成率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2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已公告文件、公開統計、文宣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321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「不是病人資料」不等於「可以外流」—— 不確定能不能給，就不要給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去識別化 ≠ 不能反推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908792" cy="137160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臨床：「2026 年 3 月，55 歲男性，糖尿病合併洗腎，XX 里篩檢站」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行政：「OO 科去年唯一一位申請留職停薪的同仁」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→ 沒寫名字，但符合條件的可能只有一個人，大家都知道是誰。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90879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判斷原則跟做統計時的 n &lt; 10 是同一件事：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條件組合下的人數少到個位數，那筆資料就已經不算去識別化。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400" b="1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要餵之前先問：「這組條件底下有幾個人（或幾家）？」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院方資安規範的位階高於本講義 —— 有衝突以院方規定為準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Agent 的權限邊界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住院醫師不能越級開化療、助理不能代你決行 —— Agent 也一樣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03120"/>
          <a:ext cx="109087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743200"/>
                <a:gridCol w="487375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權限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建議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說明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讀取檔案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1E8E4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✓ 開放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不讓它讀檔就失去意義了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寫入 / 修改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D16B0E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△ 有限度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寫到 _draft 資料夾，別蓋原始檔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刪除檔案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 關閉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除非你特別允許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發送郵件 / 送出公文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1">
                          <a:solidFill>
                            <a:srgbClr val="C039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✗ 預設關閉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4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熟悉後再開，寄錯人收不回來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57784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實務：重要檔案先存一份版本，Agent 改壞了救得回來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費用爆掉的預防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Agent 軟體免費，花錢的是它背後接的模型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最燒錢的三個情境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❶ 把幾百頁 PDF 丟進去叫它「讀一下」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→ 拆成章節，一次餵一章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❷ 讓 Agent 陷入除錯無限迴圈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→ 設次數上限，3 次不行就停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❸ 殺雞用牛刀</a:t>
            </a:r>
          </a:p>
          <a:p>
            <a:pPr>
              <a:lnSpc>
                <a:spcPct val="13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    → 簡單任務指定免費小模型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965960"/>
            <a:ext cx="5056632" cy="4173321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2183587"/>
            <a:ext cx="4544568" cy="3661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最有效的一道防線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第一次拿到 API Key，</a:t>
            </a:r>
          </a:p>
          <a:p>
            <a:pPr>
              <a:lnSpc>
                <a:spcPct val="130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就先去後台把</a:t>
            </a:r>
          </a:p>
          <a:p>
            <a:pPr>
              <a:lnSpc>
                <a:spcPct val="130000"/>
              </a:lnSpc>
            </a:pPr>
            <a:r>
              <a:rPr sz="24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每月用量上限設好。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練習用免費模型，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做正事再用付費的。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人機分工紅線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寫草稿給 AI，做決定給自己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5394960" cy="3200400"/>
          </a:xfrm>
          <a:prstGeom prst="rect">
            <a:avLst/>
          </a:prstGeom>
          <a:solidFill>
            <a:srgbClr val="E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800" b="1">
                <a:solidFill>
                  <a:srgbClr val="1E8E4A"/>
                </a:solidFill>
                <a:latin typeface="Microsoft JhengHei"/>
                <a:ea typeface="Microsoft JhengHei"/>
                <a:cs typeface="Microsoft JhengHei"/>
              </a:rPr>
              <a:t>✓ 可以交給 Agent</a:t>
            </a:r>
          </a:p>
          <a:p>
            <a:pPr>
              <a:lnSpc>
                <a:spcPct val="14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整理數據、算描述性統計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產出報告初稿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跨檔案搜尋資訊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格式轉換、例行摘要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194560"/>
            <a:ext cx="5303520" cy="320040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42316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✗ 你自己來</a:t>
            </a:r>
          </a:p>
          <a:p>
            <a:pPr>
              <a:lnSpc>
                <a:spcPct val="14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簽名 / 決行的文件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對外正式回文、承諾事項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診斷治療判斷、衛教最終版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會議決議的認定</a:t>
            </a:r>
          </a:p>
          <a:p>
            <a:pPr>
              <a:lnSpc>
                <a:spcPct val="14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人事、考績、未去識別化個資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AI 是加速器，不是自動駕駛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第一個指令怎麼下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越具體越好、一次只做一件事、從不會破壞的事開始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394960" cy="3108960"/>
          </a:xfrm>
          <a:prstGeom prst="rect">
            <a:avLst/>
          </a:prstGeom>
          <a:solidFill>
            <a:srgbClr val="EC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2800" b="1">
                <a:solidFill>
                  <a:srgbClr val="1E8E4A"/>
                </a:solidFill>
                <a:latin typeface="Microsoft JhengHei"/>
                <a:ea typeface="Microsoft JhengHei"/>
                <a:cs typeface="Microsoft JhengHei"/>
              </a:rPr>
              <a:t>✓ 好指令</a:t>
            </a:r>
          </a:p>
          <a:p>
            <a:pPr>
              <a:lnSpc>
                <a:spcPct val="14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「讀我桌面上的 OO 統計.xlsx，</a:t>
            </a:r>
          </a:p>
          <a:p>
            <a:pPr>
              <a:lnSpc>
                <a:spcPct val="14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列出所有欄位名稱。</a:t>
            </a:r>
          </a:p>
          <a:p>
            <a:pPr>
              <a:lnSpc>
                <a:spcPct val="14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不要修改檔案。」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245352" y="2103120"/>
            <a:ext cx="5303520" cy="3108960"/>
          </a:xfrm>
          <a:prstGeom prst="rect">
            <a:avLst/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33172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✗ 爛指令</a:t>
            </a:r>
          </a:p>
          <a:p>
            <a:pPr>
              <a:lnSpc>
                <a:spcPct val="14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「幫我分析今年的成果」</a:t>
            </a:r>
          </a:p>
          <a:p>
            <a:pPr>
              <a:lnSpc>
                <a:spcPct val="14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45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（它不知道檔案在哪、看什麼）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80"/>
            <a:ext cx="109087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開頭先講「我是誰、在做什麼」，它後面的回答會準很多</a:t>
            </a:r>
          </a:p>
          <a:p>
            <a:pPr>
              <a:lnSpc>
                <a:spcPct val="125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遇到錯誤很正常 —— 把錯誤訊息原封不動貼給它，它通常會自己修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想自己做？有一份手把手手冊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這一場講的是「為什麼」和「它能做什麼」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至於「第一步該做什麼、怎麼一步一步做下去」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10908792" cy="3648776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823667"/>
            <a:ext cx="10396728" cy="3136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另外整理了一份手把手手冊</a:t>
            </a:r>
          </a:p>
          <a:p>
            <a:pPr>
              <a:lnSpc>
                <a:spcPct val="135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第一步要裝哪些東西、怎麼裝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哪些擴充要加、什麼時候加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哪些流程該寫成 Skill（做第二次就寫）</a:t>
            </a:r>
          </a:p>
          <a:p>
            <a:pPr>
              <a:lnSpc>
                <a:spcPct val="135000"/>
              </a:lnSpc>
            </a:pPr>
            <a:r>
              <a:rPr sz="24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▸  我踩過的坑，一個一個寫給你避開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額外功能：修檔案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不只是幫我做臨床工作 —— 工具本身壞掉，它也會修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5303520" cy="30175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OpenCode 整個起不來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它自己去讀 log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找到是相依套件裝不起來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然後修好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（修自己的工具鏈）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011680"/>
            <a:ext cx="5285232" cy="3017520"/>
          </a:xfrm>
          <a:prstGeom prst="rect">
            <a:avLst/>
          </a:prstGeom>
          <a:solidFill>
            <a:srgbClr val="E8F0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NotebookLM 下載的 PPT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打不開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它把壞掉的檔案修好</a:t>
            </a:r>
          </a:p>
          <a:p>
            <a:pPr>
              <a:lnSpc>
                <a:spcPct val="130000"/>
              </a:lnSpc>
            </a:pPr>
            <a:r>
              <a:rPr sz="600" b="0">
                <a:solidFill>
                  <a:srgbClr val="2B2B2B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  <a:p>
            <a:pPr>
              <a:lnSpc>
                <a:spcPct val="130000"/>
              </a:lnSpc>
            </a:pPr>
            <a:r>
              <a:rPr sz="2000" b="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（修別家工具吐出來的東西）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你不必先變成工程師，才有資格用它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最重要的心態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08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AI Agent 是一個很有能力的新人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AACCDD"/>
                </a:solidFill>
                <a:latin typeface="Microsoft JhengHei"/>
                <a:ea typeface="Microsoft JhengHei"/>
                <a:cs typeface="Microsoft JhengHei"/>
              </a:rPr>
              <a:t>你不是在跟它比賽，你是在帶它 —— 會帶新人，你就會用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時間多出來了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08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省下來的時間，我沒有拿去做更多報表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109087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0">
                <a:solidFill>
                  <a:srgbClr val="AACCDD"/>
                </a:solidFill>
                <a:latin typeface="Microsoft JhengHei"/>
                <a:ea typeface="Microsoft JhengHei"/>
                <a:cs typeface="Microsoft JhengHei"/>
              </a:rPr>
              <a:t>真正花在病人身上 —— 這才是從工作中學習成長的意思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為什麼要用它？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3840480" cy="45720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不是為了追新技術 —— 是我有想完成的事，而時間不夠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83080"/>
          <a:ext cx="10908791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42631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需求的四個象限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3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實際上長這樣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① 你說得出口的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「幫我把這個月的門診資料做成報告」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② 你想問卻沒問的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「這樣做會不會有問題？」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③ 你知道卻沒說的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性別欄 0 是女、1 是男 —— 只有你懂的規矩</a:t>
                      </a:r>
                    </a:p>
                  </a:txBody>
                  <a:tcPr anchor="ctr" marL="109728" marT="36576" marB="36576"/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④ 你根本沒想到的</a:t>
                      </a:r>
                    </a:p>
                  </a:txBody>
                  <a:tcPr anchor="ctr" marL="109728" marT="36576" marB="36576"/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2B2B2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表單收了姓名，跟自己訂的紅線矛盾</a:t>
                      </a:r>
                    </a:p>
                  </a:txBody>
                  <a:tcPr anchor="ctr" marL="109728" marT="36576" marB="36576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257800"/>
            <a:ext cx="109087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1A5676"/>
                </a:solidFill>
                <a:latin typeface="Microsoft JhengHei"/>
                <a:ea typeface="Microsoft JhengHei"/>
                <a:cs typeface="Microsoft JhengHei"/>
              </a:rPr>
              <a:t>真正的改變，不是它做得比我快</a:t>
            </a:r>
          </a:p>
          <a:p>
            <a:pPr>
              <a:lnSpc>
                <a:spcPct val="130000"/>
              </a:lnSpc>
            </a:pPr>
            <a:r>
              <a:rPr sz="28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是它逼我在動工之前，先把這四格問過一遍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08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087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交代清楚 → 覆核產出 → 簽名放行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0360" y="1051560"/>
            <a:ext cx="6428232" cy="4754880"/>
          </a:xfrm>
          <a:prstGeom prst="roundRect">
            <a:avLst/>
          </a:prstGeom>
          <a:gradFill rotWithShape="1">
            <a:gsLst>
              <a:gs pos="0">
                <a:srgbClr val="1E6A8C"/>
              </a:gs>
              <a:gs pos="100000">
                <a:srgbClr val="0A3345"/>
              </a:gs>
            </a:gsLst>
            <a:lin scaled="0" ang="16200000"/>
          </a:gradFill>
          <a:ln w="44450">
            <a:solidFill>
              <a:srgbClr val="5FB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6120" y="1170432"/>
            <a:ext cx="5696712" cy="32004"/>
          </a:xfrm>
          <a:prstGeom prst="rect">
            <a:avLst/>
          </a:prstGeom>
          <a:solidFill>
            <a:srgbClr val="9F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360" y="1481328"/>
            <a:ext cx="64282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>
                <a:solidFill>
                  <a:srgbClr val="9FDCF2"/>
                </a:solidFill>
                <a:latin typeface="Segoe UI Emoji"/>
              </a:rPr>
              <a:t>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606040"/>
            <a:ext cx="6428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感謝聆聽</a:t>
            </a:r>
          </a:p>
        </p:txBody>
      </p:sp>
      <p:sp>
        <p:nvSpPr>
          <p:cNvPr id="6" name="Rectangle 5"/>
          <p:cNvSpPr/>
          <p:nvPr/>
        </p:nvSpPr>
        <p:spPr>
          <a:xfrm>
            <a:off x="5504688" y="3584448"/>
            <a:ext cx="1188720" cy="41148"/>
          </a:xfrm>
          <a:prstGeom prst="rect">
            <a:avLst/>
          </a:prstGeom>
          <a:solidFill>
            <a:srgbClr val="2C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3840480"/>
            <a:ext cx="6428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0">
                <a:solidFill>
                  <a:srgbClr val="DDF0FF"/>
                </a:solidFill>
                <a:latin typeface="Microsoft JhengHei"/>
                <a:ea typeface="Microsoft JhengHei"/>
                <a:cs typeface="Microsoft JhengHei"/>
              </a:rPr>
              <a:t>家庭醫學部　潘湘如 醫師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709160"/>
            <a:ext cx="6428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AACCDD"/>
                </a:solidFill>
                <a:latin typeface="Microsoft JhengHei"/>
                <a:ea typeface="Microsoft JhengHei"/>
                <a:cs typeface="Microsoft JhengHei"/>
              </a:rPr>
              <a:t>簡報裡的工具與衛教頁都在線上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5138928"/>
            <a:ext cx="6428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0">
                <a:solidFill>
                  <a:srgbClr val="AACCDD"/>
                </a:solidFill>
                <a:latin typeface="Microsoft JhengHei"/>
                <a:ea typeface="Microsoft JhengHei"/>
                <a:cs typeface="Microsoft JhengHei"/>
              </a:rPr>
              <a:t>前面那張 QR 掃了就能打開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236208"/>
            <a:ext cx="960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6A6A6A"/>
                </a:solidFill>
                <a:latin typeface="Microsoft JhengHei"/>
                <a:ea typeface="Microsoft JhengHei"/>
                <a:cs typeface="Microsoft JhengHei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